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各位老师好，我的毕业设计答辩题目是《基于多模型融合与Flutter的跨平台AI内容生成系统设计与实现》。本次汇报我会重点介绍系统是如何设计与实现的，以及系统测试结果，最后再对全文做一个总结与展望。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这一页我简要说明课题背景。随着生成式人工智能从文本生成逐渐扩展到图像、视频等多模态创作，移动端用户对“随时创作、即时分享”的需求越来越强。但现有 AIGC 应用普遍存在模型能力分散、创作流程割裂、工程协同复杂等问题。因此，本课题希望构建一套面向移动端场景的完整系统，把多模型能力、跨平台客户端、异步任务机制和业务闭环统一起来。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QuickArt 的目标不是只实现某一个 AI 功能，而是构建一个完整的移动端 AIGC 创作系统。系统核心能力包括文生图、图生图、文生视频、图生视频以及 AI 换脸。同时，系统还包含认证登录、工作室任务管理、结果分享和支付积分等业务模块。也就是说，这套系统覆盖了从用户创作到结果消费的完整链路，而不是一个孤立的模型调用演示。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系统整体采用“客户端、服务端、云端模型服务”三层端云协同架构。客户端基于 Flutter 构建，负责用户交互、页面渲染和任务状态展示，并通过 Riverpod 管理状态、GoRouter 管理路由，以及 SQLite 与 Hive 进行本地持久化。服务端基于 Spring Boot 3 和 Kotlin 搭建，主要负责业务编排、多模型接口统一封装、用户鉴权以及数据持久化。云端模型层则提供具体的 AI 能力，其中火山方舟负责图像和视频生成，Magic Hour 负责 AI 换脸，阿里云 OSS 负责结果文件存储与分发。这样的三层结构使各层职责边界清晰，也方便后续扩展新的模型能力。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用户视角来看，系统的核心流程可以概括为五步。第一步，用户登录后进入创作页，输入提示词或者上传图片并发起生成请求。第二步，客户端将请求发送到服务端，由服务端统一封装并调度对应的模型接口。第三步，服务端创建任务记录并返回 taskId，随后在后台异步执行长耗时任务。第四步，当任务状态变化或者结果生成完成后，服务端通过 WebSocket 将状态和结果主动推送回客户端。第五步，客户端在工作室中展示历史任务、状态变化和结果内容，并支持预览与分享。这个流程体现了系统从创作到结果管理的完整闭环。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在功能实现上，系统主要由五个模块协同工作。认证登录模块接入微信扫码授权，实现 OAuth 回调、JWT 签发和登录态持久化。QuickArt 创作模块是系统核心入口，承担文生图、图生图和模板化创作。工具模块进一步扩展了文生视频、图生视频和 AI 换脸能力，使系统支持更多内容生成场景。工作室模块负责管理历史任务、实时状态更新、结果预览和分享，是任务闭环的重要承接端。支付与积分模块则完成套餐展示、支付宝下单、支付回调和积分到账，形成了商业化业务链路。右侧这些界面截图也说明系统已经完成真实界面落地，而不只是停留在设计层面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这一页是本系统实现中的关键部分。因为图像和视频生成都属于长耗时任务，所以服务端不能采用同步阻塞方式处理。系统的做法是：在用户发起请求后，服务端先创建任务并立即返回 taskId，这样接口响应速度不会受到生成耗时影响；随后任务进入后台异步执行；任务状态变化或生成结果完成后，服务端再通过 WebSocket 主动推送给客户端；客户端收到推送后，会实时更新工作室中的任务状态和结果内容。另外，为了保证业务正确性，客户端通过 SQLite 实现任务恢复，支付积分模块通过业务键实现幂等校验，防止重复回调导致积分重复到账。可以说，这一机制是系统能够稳定落地在移动端场景中的核心。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系统测试主要从测试环境配置和功能测试两个方面展开。功能测试覆盖了认证登录、QuickArt 创作、工具模块、工作室模块以及支付与积分模块五个核心部分。认证登录测试验证了微信授权、JWT 签发、本地持久化与路由拦截链路；QuickArt 创作测试验证了文生图、图生图和模板创作，以及异步提交加 WebSocket 推送的完整链路；工具模块测试覆盖了视频生成和 AI 换脸，同时补充了无人脸图片的异常路径；工作室模块测试验证了任务展示、状态更新以及应用重启后的任务恢复；支付与积分模块测试则重点验证了下单、回调、到账和幂等校验。从论文测试结果来看，这些核心模块均已通过验证，说明系统在功能完整性和交互流畅性上达到了预期目标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对本文工作做一个总结。本课题完成了一套可运行、可扩展、具备业务闭环的跨平台 AI 内容生成系统。首先，基于 Flutter 实现了跨平台移动端客户端；其次，把图像、视频、AI 换脸等多模型能力整合进统一的业务体系中；最后，围绕异步长任务、实时状态同步、支付积分以及本地恢复等工程问题，完成了较为系统的落地实现。因此，这项工作的价值不只是做出了若干功能，而是完成了一套面向真实业务流程的工程化系统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未来工作中，我认为还可以从三个方面继续完善。第一是模型能力扩展，可以进一步接入更多视频生成、风格编辑和多模态理解模型，提升创作质量和场景覆盖度。第二是系统能力优化，包括任务调度、并发处理、缓存机制和异常恢复能力的持续提升。第三是治理与规范方面，可以加强内容审核、生成边界提示和使用日志管理，提高系统的合规性与可控性。我的汇报到这里结束，恳请各位老师批评指正，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428625"/>
            <a:ext cx="12192000" cy="8048625"/>
            <a:chOff x="0" y="-428625"/>
            <a:chExt cx="12192000" cy="80486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334500" y="-428625"/>
              <a:ext cx="2857500" cy="28575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382000" y="4191000"/>
              <a:ext cx="3429000" cy="3429000"/>
            </a:xfrm>
            <a:prstGeom prst="ellipse">
              <a:avLst/>
            </a:prstGeom>
            <a:solidFill>
              <a:srgbClr val="00A8A8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381000" y="190500"/>
              <a:ext cx="1905000" cy="1905000"/>
            </a:xfrm>
            <a:prstGeom prst="ellipse">
              <a:avLst/>
            </a:prstGeom>
            <a:solidFill>
              <a:srgbClr val="5C6BC0">
                <a:alpha val="5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76214" y="1546860"/>
            <a:ext cx="8839571" cy="1539240"/>
            <a:chOff x="1676214" y="1546860"/>
            <a:chExt cx="8839571" cy="1539240"/>
          </a:xfrm>
        </p:grpSpPr>
        <p:sp>
          <p:nvSpPr>
            <p:cNvPr id="8" name="TextBox 8"/>
            <p:cNvSpPr txBox="1"/>
            <p:nvPr/>
          </p:nvSpPr>
          <p:spPr>
            <a:xfrm>
              <a:off x="2337797" y="1546860"/>
              <a:ext cx="751640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基于多模型融合与Flutter的</a:t>
              </a:r>
              <a:endParaRPr lang="zh-CN" sz="42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76214" y="2232660"/>
              <a:ext cx="883957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5C6BC0"/>
                      </a:gs>
                    </a:gsLst>
                    <a:lin ang="0" scaled="1"/>
                  </a:gra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跨平台AI内容生成系统设计与实现</a:t>
              </a:r>
              <a:endParaRPr lang="zh-CN" sz="4200" b="1" dirty="0">
                <a:gradFill>
                  <a:gsLst>
                    <a:gs pos="0">
                      <a:srgbClr val="1565C0"/>
                    </a:gs>
                    <a:gs pos="100000">
                      <a:srgbClr val="5C6BC0"/>
                    </a:gs>
                  </a:gsLst>
                  <a:lin ang="0" scaled="1"/>
                </a:gra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29000" y="3429000"/>
            <a:ext cx="5334000" cy="552450"/>
            <a:chOff x="3429000" y="3429000"/>
            <a:chExt cx="5334000" cy="552450"/>
          </a:xfrm>
        </p:grpSpPr>
        <p:sp>
          <p:nvSpPr>
            <p:cNvPr id="11" name="Rectangle 11"/>
            <p:cNvSpPr/>
            <p:nvPr/>
          </p:nvSpPr>
          <p:spPr>
            <a:xfrm>
              <a:off x="3429000" y="3429000"/>
              <a:ext cx="5334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17046" y="35871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毕业设计答辩</a:t>
              </a:r>
              <a:endPara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28875" y="4476750"/>
            <a:ext cx="7334250" cy="1314450"/>
            <a:chOff x="2428875" y="4476750"/>
            <a:chExt cx="7334250" cy="1314450"/>
          </a:xfrm>
        </p:grpSpPr>
        <p:sp>
          <p:nvSpPr>
            <p:cNvPr id="14" name="Rectangle 14"/>
            <p:cNvSpPr/>
            <p:nvPr/>
          </p:nvSpPr>
          <p:spPr>
            <a:xfrm>
              <a:off x="2428875" y="4476750"/>
              <a:ext cx="7334250" cy="13144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7045" y="4803458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学生：胡勇辉</a:t>
              </a:r>
              <a:endParaRPr lang="zh-CN" sz="16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98795" y="4803458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专业：计算机科学与技术</a:t>
              </a:r>
              <a:endParaRPr lang="zh-CN" sz="16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7045" y="525113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指导教师：桂彦</a:t>
              </a:r>
              <a:endParaRPr lang="zh-CN" sz="16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98795" y="525113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时间：2026年6月</a:t>
              </a:r>
              <a:endParaRPr lang="zh-CN" sz="16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20" name="TextBox 20"/>
            <p:cNvSpPr txBox="1"/>
            <p:nvPr/>
          </p:nvSpPr>
          <p:spPr>
            <a:xfrm>
              <a:off x="538162" y="6450806"/>
              <a:ext cx="16262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QuickArt 毕业设计答辩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47625"/>
            <a:ext cx="12192000" cy="7000875"/>
            <a:chOff x="0" y="-47625"/>
            <a:chExt cx="12192000" cy="700087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05875" y="-47625"/>
              <a:ext cx="3143250" cy="314325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85750" y="4095750"/>
              <a:ext cx="2857500" cy="2857500"/>
            </a:xfrm>
            <a:prstGeom prst="ellipse">
              <a:avLst/>
            </a:prstGeom>
            <a:solidFill>
              <a:srgbClr val="00A8A8">
                <a:alpha val="5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22910" y="241935"/>
            <a:ext cx="11311890" cy="920115"/>
            <a:chOff x="422910" y="241935"/>
            <a:chExt cx="11311890" cy="920115"/>
          </a:xfrm>
        </p:grpSpPr>
        <p:sp>
          <p:nvSpPr>
            <p:cNvPr id="7" name="TextBox 7"/>
            <p:cNvSpPr txBox="1"/>
            <p:nvPr/>
          </p:nvSpPr>
          <p:spPr>
            <a:xfrm>
              <a:off x="422910" y="241935"/>
              <a:ext cx="82911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移动端 AIGC 需要从“能力分散”走向“系统化落地”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742950"/>
              <a:ext cx="112776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8650" y="847725"/>
              <a:ext cx="99493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 AIGC 在移动端场景存在模型分散、流程割裂、工程协同复杂等问题，因此需要一个完整的跨平台系统方案。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6300" y="1666875"/>
            <a:ext cx="10439400" cy="3762375"/>
            <a:chOff x="876300" y="1666875"/>
            <a:chExt cx="10439400" cy="3762375"/>
          </a:xfrm>
        </p:grpSpPr>
        <p:sp>
          <p:nvSpPr>
            <p:cNvPr id="11" name="Rectangle 11"/>
            <p:cNvSpPr/>
            <p:nvPr/>
          </p:nvSpPr>
          <p:spPr>
            <a:xfrm>
              <a:off x="876300" y="1666875"/>
              <a:ext cx="10439400" cy="3762375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0640" y="2234565"/>
              <a:ext cx="59144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生成式 AI 正在从文本扩展到图像、视频等多模态创作，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0640" y="2634615"/>
              <a:ext cx="58304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用户对</a:t>
              </a:r>
              <a:r>
                <a:rPr lang="zh-CN" sz="18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“随时创作、即时分享”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的移动端需求持续增长。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0640" y="331089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但现有应用普遍存在</a:t>
              </a:r>
              <a:r>
                <a:rPr lang="zh-CN" sz="18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模型能力分散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8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创作流程割裂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0640" y="371094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长耗时任务状态难管理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0640" y="4396740"/>
              <a:ext cx="53263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因此，本课题尝试把</a:t>
              </a:r>
              <a:r>
                <a:rPr lang="zh-CN" sz="1800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多模型能力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800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跨平台客户端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0640" y="4796790"/>
              <a:ext cx="50863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异步任务机制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</a:t>
              </a:r>
              <a:r>
                <a:rPr lang="zh-CN" sz="1800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业务闭环</a:t>
              </a:r>
              <a:r>
                <a:rPr lang="zh-CN" sz="18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统一到同一套系统中。</a:t>
              </a:r>
              <a:endParaRPr lang="zh-CN" sz="18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19" name="TextBox 19"/>
            <p:cNvSpPr txBox="1"/>
            <p:nvPr/>
          </p:nvSpPr>
          <p:spPr>
            <a:xfrm>
              <a:off x="538162" y="6450806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背景部分简洁呈现，可在答辩现场快速带过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2147190" cy="901065"/>
            <a:chOff x="346710" y="222885"/>
            <a:chExt cx="121471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121471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QuickArt 面向移动端 AIGC 创作，构建“生成—管理—分享—支付”完整闭环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82391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系统不是单一功能演示，而是覆盖创作、任务管理、结果查看与支付积分的一体化业务系统。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1381125"/>
            <a:ext cx="4000500" cy="4762500"/>
            <a:chOff x="381000" y="1381125"/>
            <a:chExt cx="4000500" cy="4762500"/>
          </a:xfrm>
        </p:grpSpPr>
        <p:sp>
          <p:nvSpPr>
            <p:cNvPr id="9" name="Rectangle 9"/>
            <p:cNvSpPr/>
            <p:nvPr/>
          </p:nvSpPr>
          <p:spPr>
            <a:xfrm>
              <a:off x="381000" y="1381125"/>
              <a:ext cx="4000500" cy="4762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47700" y="1694498"/>
              <a:ext cx="3658552" cy="1382077"/>
              <a:chOff x="647700" y="1694498"/>
              <a:chExt cx="3658552" cy="1382077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666750" y="1695450"/>
                <a:ext cx="266700" cy="266700"/>
                <a:chOff x="666750" y="1695450"/>
                <a:chExt cx="266700" cy="2667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33425" y="17621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cubicBezTo>
                        <a:pt x="0" y="103498"/>
                        <a:pt x="29851" y="133350"/>
                        <a:pt x="66675" y="133350"/>
                      </a:cubicBezTo>
                      <a:cubicBezTo>
                        <a:pt x="103498" y="133350"/>
                        <a:pt x="133350" y="103498"/>
                        <a:pt x="133350" y="66675"/>
                      </a:cubicBezTo>
                      <a:cubicBezTo>
                        <a:pt x="133350" y="29851"/>
                        <a:pt x="103498" y="0"/>
                        <a:pt x="66675" y="0"/>
                      </a:cubicBezTo>
                      <a:close/>
                      <a:moveTo>
                        <a:pt x="33338" y="66675"/>
                      </a:moveTo>
                      <a:cubicBezTo>
                        <a:pt x="33338" y="48263"/>
                        <a:pt x="48263" y="33338"/>
                        <a:pt x="66675" y="33338"/>
                      </a:cubicBezTo>
                      <a:cubicBezTo>
                        <a:pt x="85087" y="33338"/>
                        <a:pt x="100012" y="48263"/>
                        <a:pt x="100012" y="66675"/>
                      </a:cubicBezTo>
                      <a:cubicBezTo>
                        <a:pt x="100012" y="85087"/>
                        <a:pt x="85087" y="100012"/>
                        <a:pt x="66675" y="100012"/>
                      </a:cubicBezTo>
                      <a:cubicBezTo>
                        <a:pt x="48263" y="100012"/>
                        <a:pt x="33338" y="85087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666750" y="1695450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133350" y="0"/>
                      </a:moveTo>
                      <a:cubicBezTo>
                        <a:pt x="59703" y="0"/>
                        <a:pt x="0" y="59703"/>
                        <a:pt x="0" y="133350"/>
                      </a:cubicBezTo>
                      <a:cubicBezTo>
                        <a:pt x="0" y="206998"/>
                        <a:pt x="59703" y="266700"/>
                        <a:pt x="133350" y="266700"/>
                      </a:cubicBezTo>
                      <a:cubicBezTo>
                        <a:pt x="206998" y="266700"/>
                        <a:pt x="266700" y="206998"/>
                        <a:pt x="266700" y="133350"/>
                      </a:cubicBezTo>
                      <a:cubicBezTo>
                        <a:pt x="266700" y="59703"/>
                        <a:pt x="206998" y="0"/>
                        <a:pt x="133350" y="0"/>
                      </a:cubicBezTo>
                      <a:close/>
                      <a:moveTo>
                        <a:pt x="33338" y="133350"/>
                      </a:moveTo>
                      <a:cubicBezTo>
                        <a:pt x="33338" y="78115"/>
                        <a:pt x="78115" y="33338"/>
                        <a:pt x="133350" y="33338"/>
                      </a:cubicBezTo>
                      <a:cubicBezTo>
                        <a:pt x="188585" y="33338"/>
                        <a:pt x="233362" y="78115"/>
                        <a:pt x="233362" y="133350"/>
                      </a:cubicBezTo>
                      <a:cubicBezTo>
                        <a:pt x="233362" y="188585"/>
                        <a:pt x="188585" y="233362"/>
                        <a:pt x="133350" y="233362"/>
                      </a:cubicBezTo>
                      <a:cubicBezTo>
                        <a:pt x="78115" y="233362"/>
                        <a:pt x="33338" y="188585"/>
                        <a:pt x="33338" y="13335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42035" y="1694498"/>
                <a:ext cx="114166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系统目标</a:t>
                </a:r>
                <a:endParaRPr lang="zh-CN" sz="19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7700" y="2124075"/>
                <a:ext cx="28784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以 Flutter 实现跨平台移动端，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47700" y="2447925"/>
                <a:ext cx="36585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以 Spring Boot + Kotlin 提供后端服务，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7700" y="2771775"/>
                <a:ext cx="3238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以多模型接入支撑图像与视频生成。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47700" y="3237548"/>
              <a:ext cx="2638425" cy="1086802"/>
              <a:chOff x="647700" y="3237548"/>
              <a:chExt cx="2638425" cy="108680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3419" y="325516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0"/>
                    </a:moveTo>
                    <a:lnTo>
                      <a:pt x="233362" y="0"/>
                    </a:lnTo>
                    <a:lnTo>
                      <a:pt x="233362" y="233362"/>
                    </a:lnTo>
                    <a:lnTo>
                      <a:pt x="0" y="233362"/>
                    </a:lnTo>
                    <a:lnTo>
                      <a:pt x="0" y="0"/>
                    </a:lnTo>
                    <a:close/>
                    <a:moveTo>
                      <a:pt x="83344" y="133350"/>
                    </a:moveTo>
                    <a:lnTo>
                      <a:pt x="116681" y="166688"/>
                    </a:lnTo>
                    <a:lnTo>
                      <a:pt x="200025" y="83344"/>
                    </a:lnTo>
                    <a:lnTo>
                      <a:pt x="200025" y="200025"/>
                    </a:lnTo>
                    <a:lnTo>
                      <a:pt x="33338" y="200025"/>
                    </a:lnTo>
                    <a:lnTo>
                      <a:pt x="33338" y="183356"/>
                    </a:lnTo>
                    <a:lnTo>
                      <a:pt x="83344" y="133350"/>
                    </a:lnTo>
                    <a:close/>
                    <a:moveTo>
                      <a:pt x="91678" y="100012"/>
                    </a:moveTo>
                    <a:cubicBezTo>
                      <a:pt x="105487" y="100012"/>
                      <a:pt x="116681" y="88818"/>
                      <a:pt x="116681" y="75009"/>
                    </a:cubicBezTo>
                    <a:cubicBezTo>
                      <a:pt x="116681" y="61200"/>
                      <a:pt x="105487" y="50006"/>
                      <a:pt x="91678" y="50006"/>
                    </a:cubicBezTo>
                    <a:cubicBezTo>
                      <a:pt x="77869" y="50006"/>
                      <a:pt x="66675" y="61200"/>
                      <a:pt x="66675" y="75009"/>
                    </a:cubicBezTo>
                    <a:cubicBezTo>
                      <a:pt x="66675" y="88818"/>
                      <a:pt x="77869" y="100012"/>
                      <a:pt x="91678" y="100012"/>
                    </a:cubicBezTo>
                    <a:close/>
                  </a:path>
                </a:pathLst>
              </a:custGeom>
              <a:solidFill>
                <a:srgbClr val="00A8A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035" y="3237548"/>
                <a:ext cx="114166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核心能力</a:t>
                </a:r>
                <a:endParaRPr lang="zh-CN" sz="19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7700" y="3695700"/>
                <a:ext cx="26384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文生图、图生图、文生视频、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7700" y="4019550"/>
                <a:ext cx="16082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图生视频、AI换脸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47700" y="4809172"/>
              <a:ext cx="3238500" cy="1067753"/>
              <a:chOff x="647700" y="4809172"/>
              <a:chExt cx="3238500" cy="106775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76513" y="4844893"/>
                <a:ext cx="247171" cy="204070"/>
              </a:xfrm>
              <a:custGeom>
                <a:avLst/>
                <a:gdLst/>
                <a:ahLst/>
                <a:cxnLst/>
                <a:rect l="l" t="t" r="r" b="b"/>
                <a:pathLst>
                  <a:path w="247171" h="204070">
                    <a:moveTo>
                      <a:pt x="247171" y="47146"/>
                    </a:moveTo>
                    <a:lnTo>
                      <a:pt x="90248" y="204070"/>
                    </a:lnTo>
                    <a:lnTo>
                      <a:pt x="0" y="113821"/>
                    </a:lnTo>
                    <a:lnTo>
                      <a:pt x="47146" y="66675"/>
                    </a:lnTo>
                    <a:lnTo>
                      <a:pt x="90248" y="109777"/>
                    </a:lnTo>
                    <a:lnTo>
                      <a:pt x="200025" y="0"/>
                    </a:lnTo>
                    <a:lnTo>
                      <a:pt x="247171" y="47146"/>
                    </a:lnTo>
                    <a:close/>
                  </a:path>
                </a:pathLst>
              </a:custGeom>
              <a:solidFill>
                <a:srgbClr val="5C6BC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42035" y="4809172"/>
                <a:ext cx="114166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业务闭环</a:t>
                </a:r>
                <a:endParaRPr lang="zh-CN" sz="19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7700" y="5248275"/>
                <a:ext cx="3238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认证登录、工作室管理、结果分享、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7700" y="5572125"/>
                <a:ext cx="18383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积分购买与支付回调</a:t>
                </a:r>
                <a:endPara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762500" y="1381125"/>
            <a:ext cx="7048500" cy="4762500"/>
            <a:chOff x="4762500" y="1381125"/>
            <a:chExt cx="7048500" cy="4762500"/>
          </a:xfrm>
        </p:grpSpPr>
        <p:sp>
          <p:nvSpPr>
            <p:cNvPr id="29" name="Rectangle 29"/>
            <p:cNvSpPr/>
            <p:nvPr/>
          </p:nvSpPr>
          <p:spPr>
            <a:xfrm>
              <a:off x="4762500" y="1381125"/>
              <a:ext cx="704850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44328" y="1666875"/>
              <a:ext cx="2884844" cy="3810000"/>
            </a:xfrm>
            <a:prstGeom prst="rect">
              <a:avLst/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5000625" y="5619750"/>
              <a:ext cx="6572250" cy="333375"/>
            </a:xfrm>
            <a:prstGeom prst="roundRect">
              <a:avLst>
                <a:gd name="adj" fmla="val 22857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40839" y="5693092"/>
              <a:ext cx="4291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论文图4-2：系统功能模块图，用于说明整体功能边界</a:t>
              </a:r>
              <a:endPara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34" name="TextBox 34"/>
            <p:cNvSpPr txBox="1"/>
            <p:nvPr/>
          </p:nvSpPr>
          <p:spPr>
            <a:xfrm>
              <a:off x="538162" y="6450806"/>
              <a:ext cx="38615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功能页强调“完整业务闭环”，而不是只展示几个 AI 功能点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103514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系统采用“客户端—服务端—云端模型服务”的三层端云协同架构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9239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架构设计的关键在于明确三层职责边界，并通过统一接口与任务机制把多模型能力接入到移动端应用中。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1000" y="1381125"/>
            <a:ext cx="11430000" cy="2609850"/>
            <a:chOff x="381000" y="1381125"/>
            <a:chExt cx="11430000" cy="2609850"/>
          </a:xfrm>
        </p:grpSpPr>
        <p:sp>
          <p:nvSpPr>
            <p:cNvPr id="9" name="Rectangle 9"/>
            <p:cNvSpPr/>
            <p:nvPr/>
          </p:nvSpPr>
          <p:spPr>
            <a:xfrm>
              <a:off x="381000" y="1381125"/>
              <a:ext cx="1143000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40656" y="1676400"/>
              <a:ext cx="8110689" cy="180975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66750" y="3619500"/>
              <a:ext cx="10858500" cy="228600"/>
            </a:xfrm>
            <a:prstGeom prst="roundRect">
              <a:avLst>
                <a:gd name="adj" fmla="val 33333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68634" y="36518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论文图4-1：系统总体架构图</a:t>
              </a:r>
              <a:endParaRPr lang="zh-CN" sz="12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4286250"/>
            <a:ext cx="3971210" cy="1809750"/>
            <a:chOff x="381000" y="4286250"/>
            <a:chExt cx="3971210" cy="1809750"/>
          </a:xfrm>
        </p:grpSpPr>
        <p:sp>
          <p:nvSpPr>
            <p:cNvPr id="14" name="Rectangle 14"/>
            <p:cNvSpPr/>
            <p:nvPr/>
          </p:nvSpPr>
          <p:spPr>
            <a:xfrm>
              <a:off x="381000" y="4286250"/>
              <a:ext cx="3524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59606" y="4533900"/>
              <a:ext cx="185738" cy="247650"/>
            </a:xfrm>
            <a:custGeom>
              <a:avLst/>
              <a:gdLst/>
              <a:ahLst/>
              <a:cxnLst/>
              <a:rect l="l" t="t" r="r" b="b"/>
              <a:pathLst>
                <a:path w="185738" h="247650">
                  <a:moveTo>
                    <a:pt x="30956" y="0"/>
                  </a:moveTo>
                  <a:cubicBezTo>
                    <a:pt x="13860" y="0"/>
                    <a:pt x="0" y="13860"/>
                    <a:pt x="0" y="30956"/>
                  </a:cubicBezTo>
                  <a:lnTo>
                    <a:pt x="0" y="216694"/>
                  </a:lnTo>
                  <a:cubicBezTo>
                    <a:pt x="0" y="233791"/>
                    <a:pt x="13860" y="247650"/>
                    <a:pt x="30956" y="247650"/>
                  </a:cubicBezTo>
                  <a:lnTo>
                    <a:pt x="154781" y="247650"/>
                  </a:lnTo>
                  <a:cubicBezTo>
                    <a:pt x="171878" y="247650"/>
                    <a:pt x="185738" y="233791"/>
                    <a:pt x="185738" y="216694"/>
                  </a:cubicBezTo>
                  <a:lnTo>
                    <a:pt x="185738" y="30956"/>
                  </a:lnTo>
                  <a:cubicBezTo>
                    <a:pt x="185738" y="13860"/>
                    <a:pt x="171878" y="0"/>
                    <a:pt x="154781" y="0"/>
                  </a:cubicBezTo>
                  <a:lnTo>
                    <a:pt x="30956" y="0"/>
                  </a:lnTo>
                  <a:close/>
                  <a:moveTo>
                    <a:pt x="154781" y="46434"/>
                  </a:moveTo>
                  <a:lnTo>
                    <a:pt x="30956" y="46434"/>
                  </a:lnTo>
                  <a:lnTo>
                    <a:pt x="30956" y="201216"/>
                  </a:lnTo>
                  <a:lnTo>
                    <a:pt x="154781" y="201216"/>
                  </a:lnTo>
                  <a:lnTo>
                    <a:pt x="154781" y="46434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6790" y="45300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客户端层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552" y="4942046"/>
              <a:ext cx="374165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Flutter 构建统一 UI，Riverpod 管理状态，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552" y="5227796"/>
              <a:ext cx="225947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GoRouter 处理路由协同，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0552" y="5513546"/>
              <a:ext cx="28200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SQLite / Hive 负责本地持久化。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33875" y="4286250"/>
            <a:ext cx="3619667" cy="1809750"/>
            <a:chOff x="4333875" y="4286250"/>
            <a:chExt cx="3619667" cy="1809750"/>
          </a:xfrm>
        </p:grpSpPr>
        <p:sp>
          <p:nvSpPr>
            <p:cNvPr id="21" name="Rectangle 21"/>
            <p:cNvSpPr/>
            <p:nvPr/>
          </p:nvSpPr>
          <p:spPr>
            <a:xfrm>
              <a:off x="4333875" y="4286250"/>
              <a:ext cx="3524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81525" y="4564856"/>
              <a:ext cx="247650" cy="185738"/>
              <a:chOff x="4581525" y="4564856"/>
              <a:chExt cx="247650" cy="1857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581525" y="4564856"/>
                <a:ext cx="247650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77391">
                    <a:moveTo>
                      <a:pt x="247650" y="0"/>
                    </a:moveTo>
                    <a:lnTo>
                      <a:pt x="0" y="0"/>
                    </a:lnTo>
                    <a:lnTo>
                      <a:pt x="0" y="77391"/>
                    </a:lnTo>
                    <a:lnTo>
                      <a:pt x="247650" y="77391"/>
                    </a:lnTo>
                    <a:lnTo>
                      <a:pt x="247650" y="0"/>
                    </a:lnTo>
                    <a:close/>
                    <a:moveTo>
                      <a:pt x="61912" y="38695"/>
                    </a:moveTo>
                    <a:cubicBezTo>
                      <a:pt x="61912" y="47244"/>
                      <a:pt x="54983" y="54173"/>
                      <a:pt x="46434" y="54173"/>
                    </a:cubicBezTo>
                    <a:cubicBezTo>
                      <a:pt x="37886" y="54173"/>
                      <a:pt x="30956" y="47244"/>
                      <a:pt x="30956" y="38695"/>
                    </a:cubicBezTo>
                    <a:cubicBezTo>
                      <a:pt x="30956" y="30147"/>
                      <a:pt x="37886" y="23217"/>
                      <a:pt x="46434" y="23217"/>
                    </a:cubicBezTo>
                    <a:cubicBezTo>
                      <a:pt x="54983" y="23217"/>
                      <a:pt x="61912" y="30147"/>
                      <a:pt x="61912" y="38695"/>
                    </a:cubicBezTo>
                    <a:close/>
                  </a:path>
                </a:pathLst>
              </a:custGeom>
              <a:solidFill>
                <a:srgbClr val="00A8A8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81525" y="4673203"/>
                <a:ext cx="247650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77391">
                    <a:moveTo>
                      <a:pt x="247650" y="0"/>
                    </a:moveTo>
                    <a:lnTo>
                      <a:pt x="0" y="0"/>
                    </a:lnTo>
                    <a:lnTo>
                      <a:pt x="0" y="77391"/>
                    </a:lnTo>
                    <a:lnTo>
                      <a:pt x="247650" y="77391"/>
                    </a:lnTo>
                    <a:lnTo>
                      <a:pt x="247650" y="0"/>
                    </a:lnTo>
                    <a:close/>
                    <a:moveTo>
                      <a:pt x="46434" y="54173"/>
                    </a:moveTo>
                    <a:cubicBezTo>
                      <a:pt x="54983" y="54173"/>
                      <a:pt x="61912" y="47244"/>
                      <a:pt x="61912" y="38695"/>
                    </a:cubicBezTo>
                    <a:cubicBezTo>
                      <a:pt x="61912" y="30147"/>
                      <a:pt x="54983" y="23217"/>
                      <a:pt x="46434" y="23217"/>
                    </a:cubicBezTo>
                    <a:cubicBezTo>
                      <a:pt x="37886" y="23217"/>
                      <a:pt x="30956" y="30147"/>
                      <a:pt x="30956" y="38695"/>
                    </a:cubicBezTo>
                    <a:cubicBezTo>
                      <a:pt x="30956" y="47244"/>
                      <a:pt x="37886" y="54173"/>
                      <a:pt x="46434" y="54173"/>
                    </a:cubicBezTo>
                    <a:close/>
                  </a:path>
                </a:pathLst>
              </a:custGeom>
              <a:solidFill>
                <a:srgbClr val="00A8A8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939665" y="45300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服务端层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3428" y="4942046"/>
              <a:ext cx="33901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Spring Boot 3 + Kotlin 负责业务编排、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3428" y="5227796"/>
              <a:ext cx="326659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统一模型接口封装、鉴权、订单、积分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3428" y="5513546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与任务状态管理。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86750" y="4286250"/>
            <a:ext cx="3524250" cy="1809750"/>
            <a:chOff x="8286750" y="4286250"/>
            <a:chExt cx="3524250" cy="1809750"/>
          </a:xfrm>
        </p:grpSpPr>
        <p:sp>
          <p:nvSpPr>
            <p:cNvPr id="30" name="Rectangle 30"/>
            <p:cNvSpPr/>
            <p:nvPr/>
          </p:nvSpPr>
          <p:spPr>
            <a:xfrm>
              <a:off x="8286750" y="4286250"/>
              <a:ext cx="35242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534400" y="4564856"/>
              <a:ext cx="247650" cy="185738"/>
            </a:xfrm>
            <a:custGeom>
              <a:avLst/>
              <a:gdLst/>
              <a:ahLst/>
              <a:cxnLst/>
              <a:rect l="l" t="t" r="r" b="b"/>
              <a:pathLst>
                <a:path w="247650" h="185738">
                  <a:moveTo>
                    <a:pt x="185738" y="61912"/>
                  </a:moveTo>
                  <a:cubicBezTo>
                    <a:pt x="185738" y="27719"/>
                    <a:pt x="158018" y="0"/>
                    <a:pt x="123825" y="0"/>
                  </a:cubicBezTo>
                  <a:cubicBezTo>
                    <a:pt x="89632" y="0"/>
                    <a:pt x="61912" y="27719"/>
                    <a:pt x="61912" y="61912"/>
                  </a:cubicBezTo>
                  <a:cubicBezTo>
                    <a:pt x="27719" y="61912"/>
                    <a:pt x="0" y="89632"/>
                    <a:pt x="0" y="123825"/>
                  </a:cubicBezTo>
                  <a:lnTo>
                    <a:pt x="0" y="185738"/>
                  </a:lnTo>
                  <a:lnTo>
                    <a:pt x="247650" y="185738"/>
                  </a:lnTo>
                  <a:lnTo>
                    <a:pt x="247650" y="139303"/>
                  </a:lnTo>
                  <a:cubicBezTo>
                    <a:pt x="247650" y="105110"/>
                    <a:pt x="219930" y="77391"/>
                    <a:pt x="185738" y="77391"/>
                  </a:cubicBezTo>
                  <a:lnTo>
                    <a:pt x="185738" y="61912"/>
                  </a:lnTo>
                  <a:close/>
                </a:path>
              </a:pathLst>
            </a:custGeom>
            <a:solidFill>
              <a:srgbClr val="5C6B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92540" y="45300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云端模型层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16302" y="4942046"/>
              <a:ext cx="28010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火山方舟提供文生图/视频生成，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16302" y="5227796"/>
              <a:ext cx="23069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Magic Hour 提供 AI 换脸，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6302" y="5513546"/>
              <a:ext cx="29720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阿里云 OSS 负责文件存储与分发。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37" name="TextBox 37"/>
            <p:cNvSpPr txBox="1"/>
            <p:nvPr/>
          </p:nvSpPr>
          <p:spPr>
            <a:xfrm>
              <a:off x="538162" y="6450806"/>
              <a:ext cx="3328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三层职责清晰，是系统后续可扩展与可维护的基础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9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10937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主业务流程围绕“发起任务—异步执行—结果回传—工作室管理”展开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8639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用户视角下的核心体验是一次创作请求能够稳定进入后台处理，并实时回到客户端完成结果闭环。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1381125"/>
            <a:ext cx="3429000" cy="4762500"/>
            <a:chOff x="381000" y="1381125"/>
            <a:chExt cx="3429000" cy="4762500"/>
          </a:xfrm>
        </p:grpSpPr>
        <p:sp>
          <p:nvSpPr>
            <p:cNvPr id="9" name="Rectangle 9"/>
            <p:cNvSpPr/>
            <p:nvPr/>
          </p:nvSpPr>
          <p:spPr>
            <a:xfrm>
              <a:off x="381000" y="1381125"/>
              <a:ext cx="3429000" cy="4762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8683" y="1619250"/>
              <a:ext cx="2033634" cy="40957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08114" y="5804535"/>
              <a:ext cx="23747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论文图3-1：系统整体业务流程图</a:t>
              </a:r>
              <a:endParaRPr lang="zh-CN" sz="12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95750" y="1428750"/>
            <a:ext cx="7429500" cy="838200"/>
            <a:chOff x="4095750" y="1428750"/>
            <a:chExt cx="7429500" cy="838200"/>
          </a:xfrm>
        </p:grpSpPr>
        <p:sp>
          <p:nvSpPr>
            <p:cNvPr id="13" name="Rectangle 13"/>
            <p:cNvSpPr/>
            <p:nvPr/>
          </p:nvSpPr>
          <p:spPr>
            <a:xfrm>
              <a:off x="4095750" y="1428750"/>
              <a:ext cx="74295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05300" y="1628775"/>
              <a:ext cx="514350" cy="438150"/>
            </a:xfrm>
            <a:prstGeom prst="roundRect">
              <a:avLst>
                <a:gd name="adj" fmla="val 2608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54945" y="169735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1</a:t>
              </a:r>
              <a:endParaRPr lang="zh-CN" sz="2100" b="1" dirty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44440" y="159639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用户发起创作请求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50155" y="1930718"/>
              <a:ext cx="5614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用户输入提示词或上传图片后，由客户端调用对应生成接口提交任务。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95750" y="2419350"/>
            <a:ext cx="7429500" cy="838200"/>
            <a:chOff x="4095750" y="2419350"/>
            <a:chExt cx="7429500" cy="838200"/>
          </a:xfrm>
        </p:grpSpPr>
        <p:sp>
          <p:nvSpPr>
            <p:cNvPr id="19" name="Rectangle 19"/>
            <p:cNvSpPr/>
            <p:nvPr/>
          </p:nvSpPr>
          <p:spPr>
            <a:xfrm>
              <a:off x="4095750" y="2419350"/>
              <a:ext cx="74295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05300" y="2619375"/>
              <a:ext cx="514350" cy="438150"/>
            </a:xfrm>
            <a:prstGeom prst="roundRect">
              <a:avLst>
                <a:gd name="adj" fmla="val 26087"/>
              </a:avLst>
            </a:prstGeom>
            <a:solidFill>
              <a:srgbClr val="00A8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54945" y="268795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2</a:t>
              </a:r>
              <a:endParaRPr lang="zh-CN" sz="2100" b="1" dirty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4440" y="2586990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服务端统一封装模型调用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50155" y="2921318"/>
              <a:ext cx="53179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后端根据任务类型调度对应模型平台，并创建任务记录与 taskId。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095750" y="3409950"/>
            <a:ext cx="7429500" cy="838200"/>
            <a:chOff x="4095750" y="3409950"/>
            <a:chExt cx="7429500" cy="838200"/>
          </a:xfrm>
        </p:grpSpPr>
        <p:sp>
          <p:nvSpPr>
            <p:cNvPr id="25" name="Rectangle 25"/>
            <p:cNvSpPr/>
            <p:nvPr/>
          </p:nvSpPr>
          <p:spPr>
            <a:xfrm>
              <a:off x="4095750" y="3409950"/>
              <a:ext cx="74295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05300" y="3609975"/>
              <a:ext cx="514350" cy="438150"/>
            </a:xfrm>
            <a:prstGeom prst="roundRect">
              <a:avLst>
                <a:gd name="adj" fmla="val 26087"/>
              </a:avLst>
            </a:prstGeom>
            <a:solidFill>
              <a:srgbClr val="5C6B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54945" y="367855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3</a:t>
              </a:r>
              <a:endParaRPr lang="zh-CN" sz="2100" b="1" dirty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44440" y="3577590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后台异步执行长耗时生成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0155" y="3911918"/>
              <a:ext cx="59390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生成任务在后台独立运行，避免阻塞 HTTP 响应，提高系统并发处理能力。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095750" y="4400550"/>
            <a:ext cx="7429500" cy="838200"/>
            <a:chOff x="4095750" y="4400550"/>
            <a:chExt cx="7429500" cy="838200"/>
          </a:xfrm>
        </p:grpSpPr>
        <p:sp>
          <p:nvSpPr>
            <p:cNvPr id="31" name="Rectangle 31"/>
            <p:cNvSpPr/>
            <p:nvPr/>
          </p:nvSpPr>
          <p:spPr>
            <a:xfrm>
              <a:off x="4095750" y="4400550"/>
              <a:ext cx="74295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05300" y="4600575"/>
              <a:ext cx="5143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54945" y="466915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4</a:t>
              </a:r>
              <a:endParaRPr lang="zh-CN" sz="2100" b="1" dirty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44440" y="4568190"/>
              <a:ext cx="37631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结果通过 WebSocket 回传客户端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50155" y="4902518"/>
              <a:ext cx="6155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任务状态变化后实时推送到客户端，工作室页面完成结果展示、更新与分享。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37" name="TextBox 37"/>
            <p:cNvSpPr txBox="1"/>
            <p:nvPr/>
          </p:nvSpPr>
          <p:spPr>
            <a:xfrm>
              <a:off x="538162" y="64508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这一页重点讲“系统主链路怎么跑通”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五大模块共同支撑多模态创作与业务闭环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7439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系统实现不是分散功能堆砌，而是围绕用户创作主链路形成协同工作的模块化设计。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428750"/>
            <a:ext cx="11430000" cy="1981200"/>
            <a:chOff x="381000" y="1428750"/>
            <a:chExt cx="11430000" cy="1981200"/>
          </a:xfrm>
        </p:grpSpPr>
        <p:grpSp>
          <p:nvGrpSpPr>
            <p:cNvPr id="17" name="Group 17"/>
            <p:cNvGrpSpPr/>
            <p:nvPr/>
          </p:nvGrpSpPr>
          <p:grpSpPr>
            <a:xfrm>
              <a:off x="381000" y="1428750"/>
              <a:ext cx="2171700" cy="1981200"/>
              <a:chOff x="381000" y="1428750"/>
              <a:chExt cx="2171700" cy="1981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381000" y="1428750"/>
                <a:ext cx="2171700" cy="19812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552450" y="1633538"/>
                <a:ext cx="228600" cy="200024"/>
                <a:chOff x="552450" y="1633538"/>
                <a:chExt cx="228600" cy="200024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95312" y="16335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35719"/>
                      </a:moveTo>
                      <a:cubicBezTo>
                        <a:pt x="71438" y="55446"/>
                        <a:pt x="55446" y="71438"/>
                        <a:pt x="35719" y="71438"/>
                      </a:cubicBezTo>
                      <a:cubicBezTo>
                        <a:pt x="15992" y="71438"/>
                        <a:pt x="0" y="55446"/>
                        <a:pt x="0" y="35719"/>
                      </a:cubicBezTo>
                      <a:cubicBezTo>
                        <a:pt x="0" y="15992"/>
                        <a:pt x="15992" y="0"/>
                        <a:pt x="35719" y="0"/>
                      </a:cubicBezTo>
                      <a:cubicBezTo>
                        <a:pt x="55446" y="0"/>
                        <a:pt x="71438" y="15992"/>
                        <a:pt x="71438" y="35719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52450" y="1733550"/>
                  <a:ext cx="1143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00012">
                      <a:moveTo>
                        <a:pt x="42862" y="0"/>
                      </a:moveTo>
                      <a:cubicBezTo>
                        <a:pt x="19190" y="0"/>
                        <a:pt x="0" y="19190"/>
                        <a:pt x="0" y="42862"/>
                      </a:cubicBezTo>
                      <a:lnTo>
                        <a:pt x="0" y="100012"/>
                      </a:lnTo>
                      <a:lnTo>
                        <a:pt x="114300" y="100012"/>
                      </a:lnTo>
                      <a:lnTo>
                        <a:pt x="114300" y="0"/>
                      </a:lnTo>
                      <a:lnTo>
                        <a:pt x="42862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695325" y="1733550"/>
                  <a:ext cx="857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00012">
                      <a:moveTo>
                        <a:pt x="42862" y="0"/>
                      </a:moveTo>
                      <a:lnTo>
                        <a:pt x="0" y="0"/>
                      </a:lnTo>
                      <a:lnTo>
                        <a:pt x="0" y="100012"/>
                      </a:lnTo>
                      <a:lnTo>
                        <a:pt x="85725" y="100012"/>
                      </a:lnTo>
                      <a:lnTo>
                        <a:pt x="85725" y="42862"/>
                      </a:lnTo>
                      <a:cubicBezTo>
                        <a:pt x="85725" y="19190"/>
                        <a:pt x="66535" y="0"/>
                        <a:pt x="42862" y="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695325" y="16478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874395" y="16316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认证登录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6258" y="2034064"/>
                <a:ext cx="167640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接入微信扫码授权，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 OAuth 回调、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JWT 签发与登录态持久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化。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743200" y="1428750"/>
              <a:ext cx="2171700" cy="1981200"/>
              <a:chOff x="2743200" y="1428750"/>
              <a:chExt cx="2171700" cy="19812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743200" y="1428750"/>
                <a:ext cx="2171700" cy="19812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928938" y="1633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200025" y="0"/>
                    </a:lnTo>
                    <a:lnTo>
                      <a:pt x="200025" y="200025"/>
                    </a:lnTo>
                    <a:lnTo>
                      <a:pt x="0" y="200025"/>
                    </a:lnTo>
                    <a:lnTo>
                      <a:pt x="0" y="0"/>
                    </a:lnTo>
                    <a:close/>
                    <a:moveTo>
                      <a:pt x="71438" y="114300"/>
                    </a:moveTo>
                    <a:lnTo>
                      <a:pt x="100012" y="142875"/>
                    </a:lnTo>
                    <a:lnTo>
                      <a:pt x="171450" y="71438"/>
                    </a:lnTo>
                    <a:lnTo>
                      <a:pt x="171450" y="171450"/>
                    </a:lnTo>
                    <a:lnTo>
                      <a:pt x="28575" y="171450"/>
                    </a:lnTo>
                    <a:lnTo>
                      <a:pt x="28575" y="157162"/>
                    </a:lnTo>
                    <a:lnTo>
                      <a:pt x="71438" y="114300"/>
                    </a:lnTo>
                    <a:close/>
                    <a:moveTo>
                      <a:pt x="78581" y="85725"/>
                    </a:moveTo>
                    <a:cubicBezTo>
                      <a:pt x="90417" y="85725"/>
                      <a:pt x="100012" y="76130"/>
                      <a:pt x="100012" y="64294"/>
                    </a:cubicBezTo>
                    <a:cubicBezTo>
                      <a:pt x="100012" y="52458"/>
                      <a:pt x="90417" y="42862"/>
                      <a:pt x="78581" y="42862"/>
                    </a:cubicBezTo>
                    <a:cubicBezTo>
                      <a:pt x="66745" y="42862"/>
                      <a:pt x="57150" y="52458"/>
                      <a:pt x="57150" y="64294"/>
                    </a:cubicBezTo>
                    <a:cubicBezTo>
                      <a:pt x="57150" y="76130"/>
                      <a:pt x="66745" y="85725"/>
                      <a:pt x="78581" y="85725"/>
                    </a:cubicBezTo>
                    <a:close/>
                  </a:path>
                </a:pathLst>
              </a:custGeom>
              <a:solidFill>
                <a:srgbClr val="00A8A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36595" y="1631632"/>
                <a:ext cx="157825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QuickArt 创作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898458" y="2034064"/>
                <a:ext cx="178816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实现文生图、图生图与模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板化创作，是系统的核心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入口。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105400" y="1428750"/>
              <a:ext cx="2171700" cy="1981200"/>
              <a:chOff x="5105400" y="1428750"/>
              <a:chExt cx="2171700" cy="19812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105400" y="1428750"/>
                <a:ext cx="2171700" cy="19812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5276850" y="1633538"/>
                <a:ext cx="228600" cy="200024"/>
                <a:chOff x="5276850" y="1633538"/>
                <a:chExt cx="228600" cy="200024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5276850" y="1633538"/>
                  <a:ext cx="2286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14300">
                      <a:moveTo>
                        <a:pt x="57150" y="0"/>
                      </a:moveTo>
                      <a:lnTo>
                        <a:pt x="171450" y="0"/>
                      </a:lnTo>
                      <a:lnTo>
                        <a:pt x="171450" y="57150"/>
                      </a:lnTo>
                      <a:lnTo>
                        <a:pt x="192881" y="57150"/>
                      </a:lnTo>
                      <a:lnTo>
                        <a:pt x="228600" y="92869"/>
                      </a:lnTo>
                      <a:lnTo>
                        <a:pt x="228600" y="114300"/>
                      </a:lnTo>
                      <a:lnTo>
                        <a:pt x="0" y="114300"/>
                      </a:lnTo>
                      <a:lnTo>
                        <a:pt x="0" y="92869"/>
                      </a:lnTo>
                      <a:lnTo>
                        <a:pt x="35719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  <a:moveTo>
                        <a:pt x="142875" y="28575"/>
                      </a:moveTo>
                      <a:lnTo>
                        <a:pt x="142875" y="57150"/>
                      </a:lnTo>
                      <a:lnTo>
                        <a:pt x="85725" y="57150"/>
                      </a:lnTo>
                      <a:lnTo>
                        <a:pt x="85725" y="28575"/>
                      </a:lnTo>
                      <a:lnTo>
                        <a:pt x="142875" y="28575"/>
                      </a:lnTo>
                      <a:close/>
                    </a:path>
                  </a:pathLst>
                </a:custGeom>
                <a:solidFill>
                  <a:srgbClr val="5C6BC0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276850" y="1776412"/>
                  <a:ext cx="228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57150">
                      <a:moveTo>
                        <a:pt x="0" y="0"/>
                      </a:moveTo>
                      <a:lnTo>
                        <a:pt x="0" y="57150"/>
                      </a:lnTo>
                      <a:lnTo>
                        <a:pt x="228600" y="57150"/>
                      </a:lnTo>
                      <a:lnTo>
                        <a:pt x="228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6BC0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598795" y="16316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工具模块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60658" y="2034064"/>
                <a:ext cx="178816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扩展文生视频、图生视频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 AI 换脸能力，提升多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模态创作覆盖度。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467600" y="1428750"/>
              <a:ext cx="2171700" cy="1981200"/>
              <a:chOff x="7467600" y="1428750"/>
              <a:chExt cx="2171700" cy="19812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467600" y="1428750"/>
                <a:ext cx="2171700" cy="19812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653338" y="1619250"/>
                <a:ext cx="200025" cy="228600"/>
                <a:chOff x="7653338" y="1619250"/>
                <a:chExt cx="200025" cy="2286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653338" y="1619250"/>
                  <a:ext cx="2000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14300">
                      <a:moveTo>
                        <a:pt x="0" y="71438"/>
                      </a:moveTo>
                      <a:lnTo>
                        <a:pt x="0" y="42862"/>
                      </a:lnTo>
                      <a:lnTo>
                        <a:pt x="100012" y="0"/>
                      </a:lnTo>
                      <a:lnTo>
                        <a:pt x="200025" y="42862"/>
                      </a:lnTo>
                      <a:lnTo>
                        <a:pt x="200025" y="71438"/>
                      </a:lnTo>
                      <a:lnTo>
                        <a:pt x="100012" y="114300"/>
                      </a:lnTo>
                      <a:lnTo>
                        <a:pt x="0" y="71438"/>
                      </a:lnTo>
                      <a:close/>
                    </a:path>
                  </a:pathLst>
                </a:custGeom>
                <a:solidFill>
                  <a:srgbClr val="2E7D32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653338" y="1776412"/>
                  <a:ext cx="20002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1438">
                      <a:moveTo>
                        <a:pt x="100012" y="71438"/>
                      </a:moveTo>
                      <a:lnTo>
                        <a:pt x="0" y="28575"/>
                      </a:lnTo>
                      <a:lnTo>
                        <a:pt x="0" y="0"/>
                      </a:lnTo>
                      <a:lnTo>
                        <a:pt x="100012" y="42862"/>
                      </a:lnTo>
                      <a:lnTo>
                        <a:pt x="200025" y="0"/>
                      </a:lnTo>
                      <a:lnTo>
                        <a:pt x="200025" y="28575"/>
                      </a:lnTo>
                      <a:lnTo>
                        <a:pt x="100012" y="71438"/>
                      </a:lnTo>
                      <a:close/>
                    </a:path>
                  </a:pathLst>
                </a:custGeom>
                <a:solidFill>
                  <a:srgbClr val="2E7D32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653338" y="1719262"/>
                  <a:ext cx="20002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1438">
                      <a:moveTo>
                        <a:pt x="0" y="28575"/>
                      </a:moveTo>
                      <a:lnTo>
                        <a:pt x="100012" y="71438"/>
                      </a:lnTo>
                      <a:lnTo>
                        <a:pt x="200025" y="28575"/>
                      </a:lnTo>
                      <a:lnTo>
                        <a:pt x="200025" y="0"/>
                      </a:lnTo>
                      <a:lnTo>
                        <a:pt x="100012" y="42862"/>
                      </a:lnTo>
                      <a:lnTo>
                        <a:pt x="0" y="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2E7D32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960995" y="16316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工作室模块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2858" y="2034064"/>
                <a:ext cx="178816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管理任务历史、状态更新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、结果预览与分享，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是任务闭环的承接端。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829800" y="1428750"/>
              <a:ext cx="1981200" cy="1981200"/>
              <a:chOff x="9829800" y="1428750"/>
              <a:chExt cx="1981200" cy="19812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829800" y="1428750"/>
                <a:ext cx="1981200" cy="19812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001250" y="16192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228600"/>
                    </a:move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lose/>
                    <a:moveTo>
                      <a:pt x="128588" y="71438"/>
                    </a:moveTo>
                    <a:lnTo>
                      <a:pt x="100012" y="71438"/>
                    </a:lnTo>
                    <a:lnTo>
                      <a:pt x="100012" y="157162"/>
                    </a:lnTo>
                    <a:lnTo>
                      <a:pt x="128588" y="157162"/>
                    </a:lnTo>
                    <a:lnTo>
                      <a:pt x="128588" y="71438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323195" y="16316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支付与积分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985058" y="2034064"/>
                <a:ext cx="16256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负责套餐展示、支付宝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下单、支付回调与积分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到账。</a:t>
                </a:r>
                <a:endPara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381000" y="3714750"/>
            <a:ext cx="11430000" cy="2400300"/>
            <a:chOff x="381000" y="3714750"/>
            <a:chExt cx="11430000" cy="2400300"/>
          </a:xfrm>
        </p:grpSpPr>
        <p:sp>
          <p:nvSpPr>
            <p:cNvPr id="44" name="Rectangle 44"/>
            <p:cNvSpPr/>
            <p:nvPr/>
          </p:nvSpPr>
          <p:spPr>
            <a:xfrm>
              <a:off x="381000" y="3714750"/>
              <a:ext cx="11430000" cy="2381250"/>
            </a:xfrm>
            <a:prstGeom prst="roundRect">
              <a:avLst>
                <a:gd name="adj" fmla="val 72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9595" y="3803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界面落地效果</a:t>
              </a:r>
              <a:endParaRPr lang="zh-CN" sz="165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4040" y="4191000"/>
              <a:ext cx="757920" cy="1666875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5740" y="4191000"/>
              <a:ext cx="757920" cy="1666875"/>
            </a:xfrm>
            <a:prstGeom prst="rect">
              <a:avLst/>
            </a:prstGeom>
          </p:spPr>
        </p:pic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7440" y="4191000"/>
              <a:ext cx="757920" cy="1666875"/>
            </a:xfrm>
            <a:prstGeom prst="rect">
              <a:avLst/>
            </a:prstGeom>
          </p:spPr>
        </p:pic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79140" y="4191000"/>
              <a:ext cx="757920" cy="1666875"/>
            </a:xfrm>
            <a:prstGeom prst="rect">
              <a:avLst/>
            </a:prstGeom>
          </p:spPr>
        </p:pic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50840" y="4191000"/>
              <a:ext cx="757920" cy="1666875"/>
            </a:xfrm>
            <a:prstGeom prst="rect">
              <a:avLst/>
            </a:prstGeom>
          </p:spPr>
        </p:pic>
        <p:sp>
          <p:nvSpPr>
            <p:cNvPr id="51" name="TextBox 51"/>
            <p:cNvSpPr txBox="1"/>
            <p:nvPr/>
          </p:nvSpPr>
          <p:spPr>
            <a:xfrm>
              <a:off x="595694" y="5871210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QuickArt 创作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79420" y="5871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工具模块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83112" y="587121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AI换脸流程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02830" y="5871210"/>
              <a:ext cx="510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工作室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94520" y="5871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支付页面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57" name="TextBox 57"/>
            <p:cNvSpPr txBox="1"/>
            <p:nvPr/>
          </p:nvSpPr>
          <p:spPr>
            <a:xfrm>
              <a:off x="538162" y="6450806"/>
              <a:ext cx="33589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这一页重点体现“模块协同”与“界面已经真实落地”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88014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数据层围绕“任务、订单、积分、恢复能力”进行建模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7639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数据库设计既要支撑核心业务一致性，也要兼顾长耗时任务的追踪与客户端恢复能力。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1381125"/>
            <a:ext cx="5097780" cy="4762500"/>
            <a:chOff x="381000" y="1381125"/>
            <a:chExt cx="5097780" cy="4762500"/>
          </a:xfrm>
        </p:grpSpPr>
        <p:sp>
          <p:nvSpPr>
            <p:cNvPr id="9" name="Rectangle 9"/>
            <p:cNvSpPr/>
            <p:nvPr/>
          </p:nvSpPr>
          <p:spPr>
            <a:xfrm>
              <a:off x="381000" y="1381125"/>
              <a:ext cx="495300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21506" y="1600200"/>
              <a:ext cx="185738" cy="247650"/>
              <a:chOff x="621506" y="1600200"/>
              <a:chExt cx="185738" cy="2476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21506" y="1699260"/>
                <a:ext cx="185738" cy="7119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71199">
                    <a:moveTo>
                      <a:pt x="172381" y="7896"/>
                    </a:moveTo>
                    <a:cubicBezTo>
                      <a:pt x="176735" y="5719"/>
                      <a:pt x="181284" y="3093"/>
                      <a:pt x="185738" y="0"/>
                    </a:cubicBezTo>
                    <a:lnTo>
                      <a:pt x="185738" y="24765"/>
                    </a:lnTo>
                    <a:cubicBezTo>
                      <a:pt x="185738" y="50410"/>
                      <a:pt x="144159" y="71199"/>
                      <a:pt x="92869" y="71199"/>
                    </a:cubicBezTo>
                    <a:cubicBezTo>
                      <a:pt x="41579" y="71199"/>
                      <a:pt x="0" y="50410"/>
                      <a:pt x="0" y="24765"/>
                    </a:cubicBezTo>
                    <a:lnTo>
                      <a:pt x="0" y="0"/>
                    </a:lnTo>
                    <a:cubicBezTo>
                      <a:pt x="4453" y="3093"/>
                      <a:pt x="9002" y="5719"/>
                      <a:pt x="13357" y="7896"/>
                    </a:cubicBezTo>
                    <a:cubicBezTo>
                      <a:pt x="35305" y="18871"/>
                      <a:pt x="63460" y="24765"/>
                      <a:pt x="92869" y="24765"/>
                    </a:cubicBezTo>
                    <a:cubicBezTo>
                      <a:pt x="122277" y="24765"/>
                      <a:pt x="150432" y="18871"/>
                      <a:pt x="172381" y="789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21506" y="1776651"/>
                <a:ext cx="185738" cy="7119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71199">
                    <a:moveTo>
                      <a:pt x="0" y="0"/>
                    </a:moveTo>
                    <a:lnTo>
                      <a:pt x="0" y="24765"/>
                    </a:lnTo>
                    <a:cubicBezTo>
                      <a:pt x="0" y="50411"/>
                      <a:pt x="41579" y="71199"/>
                      <a:pt x="92869" y="71199"/>
                    </a:cubicBezTo>
                    <a:cubicBezTo>
                      <a:pt x="144159" y="71199"/>
                      <a:pt x="185738" y="50411"/>
                      <a:pt x="185738" y="24765"/>
                    </a:cubicBezTo>
                    <a:lnTo>
                      <a:pt x="185738" y="0"/>
                    </a:lnTo>
                    <a:cubicBezTo>
                      <a:pt x="181284" y="3093"/>
                      <a:pt x="176735" y="5719"/>
                      <a:pt x="172381" y="7897"/>
                    </a:cubicBezTo>
                    <a:cubicBezTo>
                      <a:pt x="150432" y="18871"/>
                      <a:pt x="122277" y="24765"/>
                      <a:pt x="92869" y="24765"/>
                    </a:cubicBezTo>
                    <a:cubicBezTo>
                      <a:pt x="63460" y="24765"/>
                      <a:pt x="35305" y="18871"/>
                      <a:pt x="13357" y="7897"/>
                    </a:cubicBezTo>
                    <a:cubicBezTo>
                      <a:pt x="9002" y="5719"/>
                      <a:pt x="4453" y="3093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21506" y="1600200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92869" y="0"/>
                    </a:moveTo>
                    <a:cubicBezTo>
                      <a:pt x="144159" y="0"/>
                      <a:pt x="185738" y="20789"/>
                      <a:pt x="185738" y="46434"/>
                    </a:cubicBezTo>
                    <a:cubicBezTo>
                      <a:pt x="185738" y="72079"/>
                      <a:pt x="144159" y="92869"/>
                      <a:pt x="92869" y="92869"/>
                    </a:cubicBezTo>
                    <a:cubicBezTo>
                      <a:pt x="41579" y="92869"/>
                      <a:pt x="0" y="72079"/>
                      <a:pt x="0" y="46434"/>
                    </a:cubicBezTo>
                    <a:cubicBezTo>
                      <a:pt x="0" y="20789"/>
                      <a:pt x="41579" y="0"/>
                      <a:pt x="92869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48690" y="15963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核心数据设计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2452" y="2017871"/>
              <a:ext cx="43592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users</a:t>
              </a:r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：保存第三方登录用户信息与当前积分余额。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2452" y="2494121"/>
              <a:ext cx="174213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generation_tasks</a:t>
              </a:r>
              <a:endParaRPr lang="zh-CN" sz="14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452" y="276082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是异步任务机制的核心载体。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2452" y="3198971"/>
              <a:ext cx="161244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payment_orders</a:t>
              </a:r>
              <a:endParaRPr lang="zh-CN" sz="14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2452" y="3465671"/>
              <a:ext cx="326659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支撑对账、状态更新与支付回调处理。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2452" y="3903821"/>
              <a:ext cx="13630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points_ledger</a:t>
              </a:r>
              <a:endParaRPr lang="zh-CN" sz="14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2452" y="417052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配合业务主键实现幂等防重。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2452" y="4608671"/>
              <a:ext cx="13430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SQLite 本地表</a:t>
              </a:r>
              <a:endParaRPr lang="zh-CN" sz="1425" b="1" dirty="0">
                <a:solidFill>
                  <a:srgbClr val="00A8A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2452" y="4875371"/>
              <a:ext cx="364664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支撑应用重启后的任务恢复与状态续订阅。</a:t>
              </a:r>
              <a:endParaRPr lang="zh-CN" sz="14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0550" y="5353050"/>
              <a:ext cx="4533900" cy="533400"/>
            </a:xfrm>
            <a:prstGeom prst="roundRect">
              <a:avLst>
                <a:gd name="adj" fmla="val 21429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3905" y="55311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关键点：服务端负责一致性，客户端本地表负责恢复能力。</a:t>
              </a:r>
              <a:endPara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19750" y="1381125"/>
            <a:ext cx="6191250" cy="4762500"/>
            <a:chOff x="5619750" y="1381125"/>
            <a:chExt cx="6191250" cy="4762500"/>
          </a:xfrm>
        </p:grpSpPr>
        <p:sp>
          <p:nvSpPr>
            <p:cNvPr id="27" name="Rectangle 27"/>
            <p:cNvSpPr/>
            <p:nvPr/>
          </p:nvSpPr>
          <p:spPr>
            <a:xfrm>
              <a:off x="5619750" y="1381125"/>
              <a:ext cx="619125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28360" y="1714500"/>
              <a:ext cx="5574030" cy="36195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5905500" y="5524500"/>
              <a:ext cx="5619750" cy="333375"/>
            </a:xfrm>
            <a:prstGeom prst="roundRect">
              <a:avLst>
                <a:gd name="adj" fmla="val 22857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37085" y="5597842"/>
              <a:ext cx="2356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论文图4-3：系统总体 E-R 图</a:t>
              </a:r>
              <a:endPara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32" name="TextBox 32"/>
            <p:cNvSpPr txBox="1"/>
            <p:nvPr/>
          </p:nvSpPr>
          <p:spPr>
            <a:xfrm>
              <a:off x="538162" y="6450806"/>
              <a:ext cx="5376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讲这一页时，重点说明 generation_tasks、points_ledger 和 SQLite 恢复机制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4131938" cy="901065"/>
            <a:chOff x="346710" y="222885"/>
            <a:chExt cx="14131938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141319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长耗时生成问题通过“立即返回 taskId + 后台异步执行 + WebSocket 主动推送”解决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59488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这一机制是系统能在移动端稳定承载 AIGC 长耗时任务的关键实现。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1000" y="1381125"/>
            <a:ext cx="11430000" cy="2286000"/>
            <a:chOff x="381000" y="1381125"/>
            <a:chExt cx="11430000" cy="2286000"/>
          </a:xfrm>
        </p:grpSpPr>
        <p:sp>
          <p:nvSpPr>
            <p:cNvPr id="9" name="Rectangle 9"/>
            <p:cNvSpPr/>
            <p:nvPr/>
          </p:nvSpPr>
          <p:spPr>
            <a:xfrm>
              <a:off x="381000" y="1381125"/>
              <a:ext cx="11430000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84255" y="1714500"/>
              <a:ext cx="2023489" cy="1524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762000" y="3333750"/>
              <a:ext cx="10668000" cy="171450"/>
            </a:xfrm>
            <a:prstGeom prst="roundRect">
              <a:avLst>
                <a:gd name="adj" fmla="val 38889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76512" y="3345656"/>
              <a:ext cx="32389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论文图4-4：异步任务与 WebSocket 推送流程图</a:t>
              </a:r>
              <a:endParaRPr lang="zh-CN" sz="1125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1000" y="4000500"/>
            <a:ext cx="11430000" cy="1809750"/>
            <a:chOff x="381000" y="4000500"/>
            <a:chExt cx="11430000" cy="1809750"/>
          </a:xfrm>
        </p:grpSpPr>
        <p:grpSp>
          <p:nvGrpSpPr>
            <p:cNvPr id="18" name="Group 18"/>
            <p:cNvGrpSpPr/>
            <p:nvPr/>
          </p:nvGrpSpPr>
          <p:grpSpPr>
            <a:xfrm>
              <a:off x="381000" y="4000500"/>
              <a:ext cx="2667000" cy="1809750"/>
              <a:chOff x="381000" y="4000500"/>
              <a:chExt cx="26670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81000" y="4000500"/>
                <a:ext cx="2667000" cy="180975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9125" y="42100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100012" y="100012"/>
                    </a:moveTo>
                    <a:lnTo>
                      <a:pt x="114300" y="0"/>
                    </a:lnTo>
                    <a:lnTo>
                      <a:pt x="85725" y="0"/>
                    </a:lnTo>
                    <a:lnTo>
                      <a:pt x="0" y="100012"/>
                    </a:lnTo>
                    <a:lnTo>
                      <a:pt x="0" y="128588"/>
                    </a:lnTo>
                    <a:lnTo>
                      <a:pt x="71438" y="128588"/>
                    </a:lnTo>
                    <a:lnTo>
                      <a:pt x="57150" y="228600"/>
                    </a:lnTo>
                    <a:lnTo>
                      <a:pt x="85725" y="228600"/>
                    </a:lnTo>
                    <a:lnTo>
                      <a:pt x="171450" y="128588"/>
                    </a:lnTo>
                    <a:lnTo>
                      <a:pt x="171450" y="100012"/>
                    </a:lnTo>
                    <a:lnTo>
                      <a:pt x="100012" y="10001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12495" y="42224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立即返回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73405" y="4616768"/>
                <a:ext cx="2257425" cy="622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服务端收到请求后，先创建任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务并返回 </a:t>
                </a:r>
                <a:r>
                  <a:rPr lang="zh-CN" sz="13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taskId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，避免接口长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时间阻塞。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295650" y="4000500"/>
              <a:ext cx="2667000" cy="1809750"/>
              <a:chOff x="3295650" y="4000500"/>
              <a:chExt cx="2667000" cy="1809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295650" y="4000500"/>
                <a:ext cx="2667000" cy="180975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505200" y="4252912"/>
                <a:ext cx="2286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42875">
                    <a:moveTo>
                      <a:pt x="85725" y="85725"/>
                    </a:moveTo>
                    <a:lnTo>
                      <a:pt x="85725" y="142875"/>
                    </a:lnTo>
                    <a:lnTo>
                      <a:pt x="71438" y="142875"/>
                    </a:lnTo>
                    <a:lnTo>
                      <a:pt x="0" y="71438"/>
                    </a:lnTo>
                    <a:lnTo>
                      <a:pt x="71438" y="0"/>
                    </a:lnTo>
                    <a:lnTo>
                      <a:pt x="85725" y="0"/>
                    </a:lnTo>
                    <a:lnTo>
                      <a:pt x="85725" y="57150"/>
                    </a:lnTo>
                    <a:lnTo>
                      <a:pt x="142875" y="57150"/>
                    </a:lnTo>
                    <a:lnTo>
                      <a:pt x="142875" y="0"/>
                    </a:lnTo>
                    <a:lnTo>
                      <a:pt x="157163" y="0"/>
                    </a:lnTo>
                    <a:lnTo>
                      <a:pt x="228600" y="71438"/>
                    </a:lnTo>
                    <a:lnTo>
                      <a:pt x="157163" y="142875"/>
                    </a:lnTo>
                    <a:lnTo>
                      <a:pt x="142875" y="142875"/>
                    </a:lnTo>
                    <a:lnTo>
                      <a:pt x="142875" y="85725"/>
                    </a:lnTo>
                    <a:lnTo>
                      <a:pt x="85725" y="85725"/>
                    </a:lnTo>
                    <a:close/>
                  </a:path>
                </a:pathLst>
              </a:custGeom>
              <a:solidFill>
                <a:srgbClr val="00A8A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827145" y="42224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后台异步执行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88055" y="4616768"/>
                <a:ext cx="2057400" cy="622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生成任务在后台独立运行，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释放 HTTP 线程资源，提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升并发场景下的稳定性。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10300" y="4000500"/>
              <a:ext cx="2667000" cy="1809750"/>
              <a:chOff x="6210300" y="4000500"/>
              <a:chExt cx="2667000" cy="1809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10300" y="4000500"/>
                <a:ext cx="2667000" cy="180975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28218" y="4239851"/>
                <a:ext cx="211861" cy="174917"/>
              </a:xfrm>
              <a:custGeom>
                <a:avLst/>
                <a:gdLst/>
                <a:ahLst/>
                <a:cxnLst/>
                <a:rect l="l" t="t" r="r" b="b"/>
                <a:pathLst>
                  <a:path w="211861" h="174917">
                    <a:moveTo>
                      <a:pt x="211861" y="40411"/>
                    </a:moveTo>
                    <a:lnTo>
                      <a:pt x="77356" y="174917"/>
                    </a:lnTo>
                    <a:lnTo>
                      <a:pt x="0" y="97561"/>
                    </a:lnTo>
                    <a:lnTo>
                      <a:pt x="40411" y="57150"/>
                    </a:lnTo>
                    <a:lnTo>
                      <a:pt x="77356" y="94094"/>
                    </a:lnTo>
                    <a:lnTo>
                      <a:pt x="171450" y="0"/>
                    </a:lnTo>
                    <a:lnTo>
                      <a:pt x="211861" y="40411"/>
                    </a:ln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41795" y="42224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实时状态同步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02705" y="4616768"/>
                <a:ext cx="2228850" cy="622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结果生成后通过 </a:t>
                </a:r>
                <a:r>
                  <a:rPr lang="zh-CN" sz="13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WebSocket</a:t>
                </a:r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主动推送到客户端，任务状态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实时刷新。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124950" y="4000500"/>
              <a:ext cx="2686050" cy="1809750"/>
              <a:chOff x="9124950" y="4000500"/>
              <a:chExt cx="2686050" cy="1809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124950" y="4000500"/>
                <a:ext cx="2686050" cy="180975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9050">
                <a:solidFill>
                  <a:srgbClr val="D9E2F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348788" y="4210050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100012" y="228600"/>
                    </a:moveTo>
                    <a:lnTo>
                      <a:pt x="47864" y="191351"/>
                    </a:lnTo>
                    <a:cubicBezTo>
                      <a:pt x="17827" y="169896"/>
                      <a:pt x="0" y="135255"/>
                      <a:pt x="0" y="98342"/>
                    </a:cubicBez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98342"/>
                    </a:lnTo>
                    <a:cubicBezTo>
                      <a:pt x="200025" y="135255"/>
                      <a:pt x="182198" y="169896"/>
                      <a:pt x="152160" y="191351"/>
                    </a:cubicBezTo>
                    <a:lnTo>
                      <a:pt x="100012" y="228600"/>
                    </a:lnTo>
                    <a:close/>
                    <a:moveTo>
                      <a:pt x="160121" y="81540"/>
                    </a:moveTo>
                    <a:lnTo>
                      <a:pt x="139916" y="61335"/>
                    </a:lnTo>
                    <a:lnTo>
                      <a:pt x="85725" y="115526"/>
                    </a:lnTo>
                    <a:lnTo>
                      <a:pt x="60109" y="89910"/>
                    </a:lnTo>
                    <a:lnTo>
                      <a:pt x="39903" y="110115"/>
                    </a:lnTo>
                    <a:lnTo>
                      <a:pt x="85725" y="155937"/>
                    </a:lnTo>
                    <a:lnTo>
                      <a:pt x="160121" y="81540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656445" y="42224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恢复与幂等</a:t>
                </a:r>
                <a:endParaRPr lang="zh-CN" sz="165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317355" y="4616768"/>
                <a:ext cx="2333625" cy="622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工作室结合 SQLite 恢复任务，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支付回调通过业务键保证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3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积分到账不重复执行。</a:t>
                </a:r>
                <a:endPara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35" name="TextBox 35"/>
            <p:cNvSpPr txBox="1"/>
            <p:nvPr/>
          </p:nvSpPr>
          <p:spPr>
            <a:xfrm>
              <a:off x="538162" y="6450806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这是整场答辩最关键的实现页之一，建议重点展开讲解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5" name="TextBox 5"/>
            <p:cNvSpPr txBox="1"/>
            <p:nvPr/>
          </p:nvSpPr>
          <p:spPr>
            <a:xfrm>
              <a:off x="346710" y="222885"/>
              <a:ext cx="110319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关键模块测试均通过，系统在功能完整性与交互流畅性上达到预期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819150"/>
              <a:ext cx="603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测试结果表明，系统已具备较完整的业务功能和较稳定的交互表现。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1428750"/>
            <a:ext cx="5524500" cy="2095500"/>
            <a:chOff x="381000" y="1428750"/>
            <a:chExt cx="5524500" cy="20955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24500" cy="2095500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98918" y="1668101"/>
              <a:ext cx="211861" cy="174917"/>
            </a:xfrm>
            <a:custGeom>
              <a:avLst/>
              <a:gdLst/>
              <a:ahLst/>
              <a:cxnLst/>
              <a:rect l="l" t="t" r="r" b="b"/>
              <a:pathLst>
                <a:path w="211861" h="174917">
                  <a:moveTo>
                    <a:pt x="211861" y="40411"/>
                  </a:moveTo>
                  <a:lnTo>
                    <a:pt x="77356" y="174917"/>
                  </a:lnTo>
                  <a:lnTo>
                    <a:pt x="0" y="97561"/>
                  </a:lnTo>
                  <a:lnTo>
                    <a:pt x="40411" y="57150"/>
                  </a:lnTo>
                  <a:lnTo>
                    <a:pt x="77356" y="94094"/>
                  </a:lnTo>
                  <a:lnTo>
                    <a:pt x="171450" y="0"/>
                  </a:lnTo>
                  <a:lnTo>
                    <a:pt x="211861" y="404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0590" y="1624965"/>
              <a:ext cx="23518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认证登录 + 创作模块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3405" y="204501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微信授权登录、JWT 签发、本地持久化链路验证通过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3405" y="23498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文生图、图生图、图片模板功能均可正常完成生成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3405" y="2654618"/>
              <a:ext cx="4813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“异步提交 + WebSocket 推送”链路在创作场景下验证通过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0550" y="3048000"/>
              <a:ext cx="2095500" cy="285750"/>
            </a:xfrm>
            <a:prstGeom prst="roundRect">
              <a:avLst>
                <a:gd name="adj" fmla="val 26667"/>
              </a:avLst>
            </a:prstGeom>
            <a:solidFill>
              <a:srgbClr val="E9F6E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31184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结果：通过</a:t>
              </a:r>
              <a:endPara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428750"/>
            <a:ext cx="5524500" cy="2095500"/>
            <a:chOff x="6286500" y="142875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428750"/>
              <a:ext cx="5524500" cy="2095500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504418" y="1668101"/>
              <a:ext cx="211861" cy="174917"/>
            </a:xfrm>
            <a:custGeom>
              <a:avLst/>
              <a:gdLst/>
              <a:ahLst/>
              <a:cxnLst/>
              <a:rect l="l" t="t" r="r" b="b"/>
              <a:pathLst>
                <a:path w="211861" h="174917">
                  <a:moveTo>
                    <a:pt x="211861" y="40411"/>
                  </a:moveTo>
                  <a:lnTo>
                    <a:pt x="77356" y="174917"/>
                  </a:lnTo>
                  <a:lnTo>
                    <a:pt x="0" y="97561"/>
                  </a:lnTo>
                  <a:lnTo>
                    <a:pt x="40411" y="57150"/>
                  </a:lnTo>
                  <a:lnTo>
                    <a:pt x="77356" y="94094"/>
                  </a:lnTo>
                  <a:lnTo>
                    <a:pt x="171450" y="0"/>
                  </a:lnTo>
                  <a:lnTo>
                    <a:pt x="211861" y="404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16090" y="1624965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工具模块 + AI换脸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8905" y="204501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文生视频、图生视频、视频模板功能验证通过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8905" y="234981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AI换脸功能覆盖人脸检测、换脸执行两阶段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8905" y="265461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无人脸图片异常路径用例验证了系统容错能力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96050" y="3048000"/>
              <a:ext cx="2095500" cy="285750"/>
            </a:xfrm>
            <a:prstGeom prst="roundRect">
              <a:avLst>
                <a:gd name="adj" fmla="val 26667"/>
              </a:avLst>
            </a:prstGeom>
            <a:solidFill>
              <a:srgbClr val="E9F6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28510" y="31184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结果：通过</a:t>
              </a:r>
              <a:endPara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3762375"/>
            <a:ext cx="5524500" cy="2095500"/>
            <a:chOff x="381000" y="3762375"/>
            <a:chExt cx="55245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381000" y="3762375"/>
              <a:ext cx="5524500" cy="2095500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98918" y="4001726"/>
              <a:ext cx="211861" cy="174917"/>
            </a:xfrm>
            <a:custGeom>
              <a:avLst/>
              <a:gdLst/>
              <a:ahLst/>
              <a:cxnLst/>
              <a:rect l="l" t="t" r="r" b="b"/>
              <a:pathLst>
                <a:path w="211861" h="174917">
                  <a:moveTo>
                    <a:pt x="211861" y="40411"/>
                  </a:moveTo>
                  <a:lnTo>
                    <a:pt x="77356" y="174917"/>
                  </a:lnTo>
                  <a:lnTo>
                    <a:pt x="0" y="97561"/>
                  </a:lnTo>
                  <a:lnTo>
                    <a:pt x="40411" y="57150"/>
                  </a:lnTo>
                  <a:lnTo>
                    <a:pt x="77356" y="94094"/>
                  </a:lnTo>
                  <a:lnTo>
                    <a:pt x="171450" y="0"/>
                  </a:lnTo>
                  <a:lnTo>
                    <a:pt x="211861" y="404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0590" y="39585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工作室模块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3405" y="4378642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历史任务展示与排序逻辑验证通过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3405" y="4683442"/>
              <a:ext cx="4048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WebSocket 推送后的任务状态实时更新验证通过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3405" y="4988242"/>
              <a:ext cx="41208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应用重启后依赖 SQLite 的任务恢复机制验证通过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90550" y="5381625"/>
              <a:ext cx="2095500" cy="285750"/>
            </a:xfrm>
            <a:prstGeom prst="roundRect">
              <a:avLst>
                <a:gd name="adj" fmla="val 26667"/>
              </a:avLst>
            </a:prstGeom>
            <a:solidFill>
              <a:srgbClr val="E9F6E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23010" y="545211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结果：通过</a:t>
              </a:r>
              <a:endPara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3762375"/>
            <a:ext cx="5524500" cy="2095500"/>
            <a:chOff x="6286500" y="3762375"/>
            <a:chExt cx="5524500" cy="2095500"/>
          </a:xfrm>
        </p:grpSpPr>
        <p:sp>
          <p:nvSpPr>
            <p:cNvPr id="36" name="Rectangle 36"/>
            <p:cNvSpPr/>
            <p:nvPr/>
          </p:nvSpPr>
          <p:spPr>
            <a:xfrm>
              <a:off x="6286500" y="3762375"/>
              <a:ext cx="5524500" cy="2095500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504418" y="4001726"/>
              <a:ext cx="211861" cy="174917"/>
            </a:xfrm>
            <a:custGeom>
              <a:avLst/>
              <a:gdLst/>
              <a:ahLst/>
              <a:cxnLst/>
              <a:rect l="l" t="t" r="r" b="b"/>
              <a:pathLst>
                <a:path w="211861" h="174917">
                  <a:moveTo>
                    <a:pt x="211861" y="40411"/>
                  </a:moveTo>
                  <a:lnTo>
                    <a:pt x="77356" y="174917"/>
                  </a:lnTo>
                  <a:lnTo>
                    <a:pt x="0" y="97561"/>
                  </a:lnTo>
                  <a:lnTo>
                    <a:pt x="40411" y="57150"/>
                  </a:lnTo>
                  <a:lnTo>
                    <a:pt x="77356" y="94094"/>
                  </a:lnTo>
                  <a:lnTo>
                    <a:pt x="171450" y="0"/>
                  </a:lnTo>
                  <a:lnTo>
                    <a:pt x="211861" y="404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16090" y="39585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支付与积分模块</a:t>
              </a:r>
              <a:endParaRPr lang="zh-CN" sz="18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8905" y="4378642"/>
              <a:ext cx="46878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套餐展示、支付宝下单、支付成功与取消支付均完成验证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8905" y="4683442"/>
              <a:ext cx="32476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积分到账逻辑正确，能够形成支付闭环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8905" y="49882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重复回调下幂等校验通过，是安全性验证重点</a:t>
              </a:r>
              <a:endParaRPr lang="zh-CN" sz="13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96050" y="5381625"/>
              <a:ext cx="2095500" cy="285750"/>
            </a:xfrm>
            <a:prstGeom prst="roundRect">
              <a:avLst>
                <a:gd name="adj" fmla="val 26667"/>
              </a:avLst>
            </a:prstGeom>
            <a:solidFill>
              <a:srgbClr val="E9F6E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28510" y="545211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结果：通过</a:t>
              </a:r>
              <a:endPara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45" name="TextBox 45"/>
            <p:cNvSpPr txBox="1"/>
            <p:nvPr/>
          </p:nvSpPr>
          <p:spPr>
            <a:xfrm>
              <a:off x="538162" y="6450806"/>
              <a:ext cx="40940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测试页重点强调“覆盖了正常路径与异常路径，结果整体通过”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5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238125"/>
            <a:ext cx="12192000" cy="7143750"/>
            <a:chOff x="0" y="-238125"/>
            <a:chExt cx="12192000" cy="7143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67750" y="-238125"/>
              <a:ext cx="3238500" cy="32385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90500" y="4048125"/>
              <a:ext cx="2857500" cy="2857500"/>
            </a:xfrm>
            <a:prstGeom prst="ellipse">
              <a:avLst/>
            </a:prstGeom>
            <a:solidFill>
              <a:srgbClr val="00A8A8">
                <a:alpha val="5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46710" y="222885"/>
            <a:ext cx="12714261" cy="901065"/>
            <a:chOff x="346710" y="222885"/>
            <a:chExt cx="12714261" cy="901065"/>
          </a:xfrm>
        </p:grpSpPr>
        <p:sp>
          <p:nvSpPr>
            <p:cNvPr id="7" name="TextBox 7"/>
            <p:cNvSpPr txBox="1"/>
            <p:nvPr/>
          </p:nvSpPr>
          <p:spPr>
            <a:xfrm>
              <a:off x="346710" y="222885"/>
              <a:ext cx="1271426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本课题完成了一个可运行、可扩展、具备业务闭环的跨平台 AI 内容生成系统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2450" y="819150"/>
              <a:ext cx="8859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论文工作的核心价值不只是“做出几个功能”，而是完成了一套面向真实业务流程的工程化系统实现。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000" y="1619250"/>
            <a:ext cx="9906000" cy="3810000"/>
            <a:chOff x="1143000" y="1619250"/>
            <a:chExt cx="9906000" cy="3810000"/>
          </a:xfrm>
        </p:grpSpPr>
        <p:sp>
          <p:nvSpPr>
            <p:cNvPr id="11" name="Rectangle 11"/>
            <p:cNvSpPr/>
            <p:nvPr/>
          </p:nvSpPr>
          <p:spPr>
            <a:xfrm>
              <a:off x="1143000" y="1619250"/>
              <a:ext cx="9906000" cy="381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89735" y="2265998"/>
              <a:ext cx="8565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1）完成了</a:t>
              </a:r>
              <a:r>
                <a:rPr lang="zh-CN" sz="19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跨平台客户端实现</a:t>
              </a:r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，基于 Flutter 构建统一的移动端创作体验；</a:t>
              </a:r>
              <a:endParaRPr lang="zh-CN" sz="19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89735" y="3027998"/>
              <a:ext cx="877362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2）完成了</a:t>
              </a:r>
              <a:r>
                <a:rPr lang="zh-CN" sz="1950" b="1" dirty="0">
                  <a:solidFill>
                    <a:srgbClr val="00A8A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多模型能力整合</a:t>
              </a:r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，把图像、视频、换脸等能力接入统一业务体系；</a:t>
              </a:r>
              <a:endParaRPr lang="zh-CN" sz="19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9735" y="3789998"/>
              <a:ext cx="77334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3）完成了</a:t>
              </a:r>
              <a:r>
                <a:rPr lang="zh-CN" sz="1950" b="1" dirty="0">
                  <a:solidFill>
                    <a:srgbClr val="5C6B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关键工程问题落地</a:t>
              </a:r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，解决了异步长任务、实时状态同步、</a:t>
              </a:r>
              <a:endParaRPr lang="zh-CN" sz="19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89735" y="4190048"/>
              <a:ext cx="342995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支付积分与本地恢复等问题。</a:t>
              </a:r>
              <a:endParaRPr lang="zh-CN" sz="19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14500" y="4619625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25193" y="4754404"/>
              <a:ext cx="49126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QuickArt 已具备较完整的移动端 AIGC 业务闭环能力</a:t>
              </a:r>
              <a:endParaRPr lang="zh-CN" sz="1575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19" name="TextBox 19"/>
            <p:cNvSpPr txBox="1"/>
            <p:nvPr/>
          </p:nvSpPr>
          <p:spPr>
            <a:xfrm>
              <a:off x="538162" y="6450806"/>
              <a:ext cx="39590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总结页建议讲清“完成了什么”和“为什么这不只是功能演示”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285750"/>
            <a:ext cx="12192000" cy="7191375"/>
            <a:chOff x="0" y="-285750"/>
            <a:chExt cx="12192000" cy="719137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0A8A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572500" y="-285750"/>
              <a:ext cx="3429000" cy="3429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0" y="4048125"/>
              <a:ext cx="2857500" cy="2857500"/>
            </a:xfrm>
            <a:prstGeom prst="ellipse">
              <a:avLst/>
            </a:prstGeom>
            <a:solidFill>
              <a:srgbClr val="00A8A8">
                <a:alpha val="5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46710" y="222885"/>
            <a:ext cx="11464290" cy="901065"/>
            <a:chOff x="346710" y="222885"/>
            <a:chExt cx="11464290" cy="901065"/>
          </a:xfrm>
        </p:grpSpPr>
        <p:sp>
          <p:nvSpPr>
            <p:cNvPr id="7" name="TextBox 7"/>
            <p:cNvSpPr txBox="1"/>
            <p:nvPr/>
          </p:nvSpPr>
          <p:spPr>
            <a:xfrm>
              <a:off x="346710" y="222885"/>
              <a:ext cx="98978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后续可从模型能力、系统性能与治理机制三个方向持续完善</a:t>
              </a:r>
              <a:endParaRPr lang="zh-CN" sz="2700" b="1" dirty="0">
                <a:solidFill>
                  <a:srgbClr val="1F29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704850"/>
              <a:ext cx="11430000" cy="419100"/>
            </a:xfrm>
            <a:prstGeom prst="roundRect">
              <a:avLst>
                <a:gd name="adj" fmla="val 2272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2450" y="819150"/>
              <a:ext cx="8039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当前系统已经完成基础落地，但在模型效果、平台能力和规范治理方面仍有继续拓展空间。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714500"/>
            <a:ext cx="11049000" cy="2857500"/>
            <a:chOff x="571500" y="1714500"/>
            <a:chExt cx="11049000" cy="2857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34290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1530" y="1925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65C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模型能力扩展</a:t>
              </a:r>
              <a:endParaRPr lang="zh-CN" sz="2100" b="1" dirty="0">
                <a:solidFill>
                  <a:srgbClr val="1565C0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150" y="2486025"/>
              <a:ext cx="28575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引入更多视频生成、风格编辑与多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模态理解模型，进一步提升创作质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量与场景覆盖度。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714500"/>
              <a:ext cx="34290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1530" y="1925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A8A8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系统能力优化</a:t>
              </a:r>
              <a:endParaRPr lang="zh-CN" sz="2100" b="1" dirty="0">
                <a:solidFill>
                  <a:srgbClr val="00A8A8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9150" y="2486025"/>
              <a:ext cx="26670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继续优化任务调度、并发处理、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缓存与异常恢复机制，提高性能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与稳定性。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1714500"/>
              <a:ext cx="34290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31530" y="19259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C6BC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治理与规范</a:t>
              </a:r>
              <a:endParaRPr lang="zh-CN" sz="2100" b="1" dirty="0">
                <a:solidFill>
                  <a:srgbClr val="5C6BC0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0" y="2486025"/>
              <a:ext cx="26670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加强内容审核、生成边界提示与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使用日志管理，提高系统的合规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性与可控性。</a:t>
              </a:r>
              <a:endParaRPr lang="zh-CN" sz="15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81250" y="5143500"/>
            <a:ext cx="7429500" cy="590550"/>
            <a:chOff x="2381250" y="5143500"/>
            <a:chExt cx="7429500" cy="590550"/>
          </a:xfrm>
        </p:grpSpPr>
        <p:sp>
          <p:nvSpPr>
            <p:cNvPr id="21" name="Rectangle 21"/>
            <p:cNvSpPr/>
            <p:nvPr/>
          </p:nvSpPr>
          <p:spPr>
            <a:xfrm>
              <a:off x="2381250" y="5143500"/>
              <a:ext cx="7429500" cy="590550"/>
            </a:xfrm>
            <a:prstGeom prst="roundRect">
              <a:avLst>
                <a:gd name="adj" fmla="val 25806"/>
              </a:avLst>
            </a:prstGeom>
            <a:solidFill>
              <a:srgbClr val="FFFFFF"/>
            </a:solidFill>
            <a:ln w="19050">
              <a:solidFill>
                <a:srgbClr val="D9E2F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49015" y="5297805"/>
              <a:ext cx="50939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我的汇报完毕，</a:t>
              </a:r>
              <a:r>
                <a:rPr lang="zh-CN" sz="21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恳请各位老师批评指正</a:t>
              </a:r>
              <a:r>
                <a:rPr lang="zh-CN" sz="21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21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8162" y="6450806"/>
            <a:ext cx="11096626" cy="228600"/>
            <a:chOff x="538162" y="6450806"/>
            <a:chExt cx="11096626" cy="228600"/>
          </a:xfrm>
        </p:grpSpPr>
        <p:sp>
          <p:nvSpPr>
            <p:cNvPr id="24" name="TextBox 24"/>
            <p:cNvSpPr txBox="1"/>
            <p:nvPr/>
          </p:nvSpPr>
          <p:spPr>
            <a:xfrm>
              <a:off x="538162" y="645080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结束页用于自然收尾，并为答辩问答留出空间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41192" y="645080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3003</Words>
  <Application>WPS 演示</Application>
  <PresentationFormat>On-screen Show (16:9)</PresentationFormat>
  <Paragraphs>347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Georgia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WPS_1684923014</cp:lastModifiedBy>
  <cp:revision>2</cp:revision>
  <dcterms:created xsi:type="dcterms:W3CDTF">2026-06-08T14:47:00Z</dcterms:created>
  <dcterms:modified xsi:type="dcterms:W3CDTF">2026-06-08T15:06:34Z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88154E9421414058B74AF9A5059036BC_12</vt:lpwstr>
  </property>
</Properties>
</file>